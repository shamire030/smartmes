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MiSans" panose="020B0604020202020204" charset="-122"/>
      <p:regular r:id="rId25"/>
    </p:embeddedFont>
    <p:embeddedFont>
      <p:font typeface="Arial Black" panose="020B0A04020102020204" pitchFamily="34" charset="0"/>
      <p:bold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63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5-d2sjffu1bb2p4onbpv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" y="2074336"/>
            <a:ext cx="1828800" cy="1892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93213" y="2018030"/>
            <a:ext cx="8091091" cy="1913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MES项目交付全景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8840" y="1196975"/>
            <a:ext cx="1070546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2025/12/09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9122410" y="4891405"/>
            <a:ext cx="2331720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122410" y="489140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9-04-14:54:55-d2sjffu1bb2p4onbpv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760" y="4203065"/>
            <a:ext cx="303530" cy="14287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4-14:54:55-d2sjffu1bb2p4onbpv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35110" y="4889500"/>
            <a:ext cx="2306955" cy="430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罗睿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0">
          <a:gsLst>
            <a:gs pos="0">
              <a:srgbClr val="94B9FF">
                <a:alpha val="74000"/>
              </a:srgbClr>
            </a:gs>
            <a:gs pos="9000">
              <a:srgbClr val="94B9FF">
                <a:alpha val="7400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875" y="3590925"/>
            <a:ext cx="533717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23875" y="3590925"/>
            <a:ext cx="533717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8650" y="367982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28650" y="367982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8335" y="37179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215" y="4602480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3875" y="4544695"/>
            <a:ext cx="541972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23875" y="4544695"/>
            <a:ext cx="541972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463359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28650" y="463359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7380" y="466471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215" y="5563870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3875" y="5506085"/>
            <a:ext cx="541972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23875" y="5506085"/>
            <a:ext cx="541972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650" y="559498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28650" y="559498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7380" y="562610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0000" y="3590925"/>
            <a:ext cx="526288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50000" y="3590925"/>
            <a:ext cx="5262880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4775" y="367982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54775" y="367982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4460" y="37179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0340" y="4602480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0000" y="4544695"/>
            <a:ext cx="526288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50000" y="4544695"/>
            <a:ext cx="5262880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4775" y="463359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54775" y="463359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53505" y="466471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30340" y="5563870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0000" y="5506085"/>
            <a:ext cx="526288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50000" y="5506085"/>
            <a:ext cx="5262880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4775" y="559498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54775" y="559498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53505" y="562610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2915" y="2383155"/>
            <a:ext cx="2174240" cy="975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37" name="Image 0" descr="https://kimi-img.moonshot.cn/pub/slides/slides_tmpl/image/25-09-04-14:54:55-d2sjffu1bb2p4onbpv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395" y="2610485"/>
            <a:ext cx="1902460" cy="461645"/>
          </a:xfrm>
          <a:prstGeom prst="rect">
            <a:avLst/>
          </a:prstGeom>
        </p:spPr>
      </p:pic>
      <p:pic>
        <p:nvPicPr>
          <p:cNvPr id="38" name="Image 1" descr="https://kimi-img.moonshot.cn/pub/slides/slides_tmpl/image/25-09-04-14:54:55-d2sjffu1bb2p4onbpv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560" y="2884805"/>
            <a:ext cx="303530" cy="142875"/>
          </a:xfrm>
          <a:prstGeom prst="rect">
            <a:avLst/>
          </a:prstGeom>
        </p:spPr>
      </p:pic>
      <p:pic>
        <p:nvPicPr>
          <p:cNvPr id="39" name="Image 2" descr="https://kimi-img.moonshot.cn/pub/slides/slides_tmpl/image/25-09-04-14:54:55-d2sjffu1bb2p4onbpvm0.png"/>
          <p:cNvPicPr>
            <a:picLocks noChangeAspect="1"/>
          </p:cNvPicPr>
          <p:nvPr/>
        </p:nvPicPr>
        <p:blipFill>
          <a:blip r:embed="rId5">
            <a:alphaModFix amt="37000"/>
          </a:blip>
          <a:srcRect t="65733" r="67587" b="5067"/>
          <a:stretch/>
        </p:blipFill>
        <p:spPr>
          <a:xfrm>
            <a:off x="11571984" y="23052"/>
            <a:ext cx="589280" cy="556895"/>
          </a:xfrm>
          <a:prstGeom prst="rect">
            <a:avLst/>
          </a:prstGeom>
        </p:spPr>
      </p:pic>
      <p:pic>
        <p:nvPicPr>
          <p:cNvPr id="40" name="Image 3" descr="https://kimi-img.moonshot.cn/pub/slides/slides_tmpl/image/25-09-04-14:54:55-d2sjffu1bb2p4onbpvn0.png"/>
          <p:cNvPicPr>
            <a:picLocks noChangeAspect="1"/>
          </p:cNvPicPr>
          <p:nvPr/>
        </p:nvPicPr>
        <p:blipFill>
          <a:blip r:embed="rId6"/>
          <a:srcRect b="6991"/>
          <a:stretch/>
        </p:blipFill>
        <p:spPr>
          <a:xfrm>
            <a:off x="7490460" y="392430"/>
            <a:ext cx="4070350" cy="249237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097915" y="3730625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项目定位与目标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1097915" y="4684395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系统结构与实现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1097915" y="5631815"/>
            <a:ext cx="5203190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已交付功能</a:t>
            </a:r>
            <a:endParaRPr lang="en-US" sz="1600" dirty="0"/>
          </a:p>
        </p:txBody>
      </p:sp>
      <p:sp>
        <p:nvSpPr>
          <p:cNvPr id="44" name="Text 38"/>
          <p:cNvSpPr/>
          <p:nvPr/>
        </p:nvSpPr>
        <p:spPr>
          <a:xfrm>
            <a:off x="6924040" y="3730625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技术栈与版本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6924040" y="4684395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项目分工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6924040" y="5631815"/>
            <a:ext cx="5203190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总结与后续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项目定位与目标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01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MES是什么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82140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74545" y="6042343"/>
            <a:ext cx="2520000" cy="9017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40296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32701" y="6042343"/>
            <a:ext cx="2520000" cy="9017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9325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49325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39316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项目定义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92530" y="3080068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MES是团队实际开发的轻量级制造执行系统，专为中小工厂设计，解决生产过程数字化难题。它聚焦生产计划、现场执行、质量记录和设备维护四大核心痛点，助力车间摆脱纸质单据，实现数据在线化。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07481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40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07481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97471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交付形式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50686" y="3080068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该系统并非概念展示，而是可直接部署的代码包，包含完整的前后端代码、数据库脚本和用户手册。客户收到后可立即进行安装和测试，无需等待进一步的开发或完善。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0">
          <a:gsLst>
            <a:gs pos="0">
              <a:srgbClr val="678DD3">
                <a:alpha val="54000"/>
              </a:srgbClr>
            </a:gs>
            <a:gs pos="39000">
              <a:srgbClr val="678DD3">
                <a:alpha val="13000"/>
              </a:srgbClr>
            </a:gs>
            <a:gs pos="74000">
              <a:srgbClr val="7A9EDA">
                <a:alpha val="21000"/>
              </a:srgbClr>
            </a:gs>
            <a:gs pos="100000">
              <a:srgbClr val="678DD3">
                <a:alpha val="0"/>
              </a:srgb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07895" y="2033905"/>
            <a:ext cx="6776085" cy="32448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43000"/>
                </a:srgbClr>
              </a:gs>
              <a:gs pos="22000">
                <a:srgbClr val="6389D3">
                  <a:alpha val="27000"/>
                </a:srgbClr>
              </a:gs>
              <a:gs pos="45000">
                <a:srgbClr val="6389D3">
                  <a:alpha val="61000"/>
                </a:srgbClr>
              </a:gs>
              <a:gs pos="95000">
                <a:srgbClr val="6389D3">
                  <a:alpha val="98000"/>
                </a:srgbClr>
              </a:gs>
              <a:gs pos="100000">
                <a:srgbClr val="6389D3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-2207895" y="2033905"/>
            <a:ext cx="6776085" cy="324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-4212590" y="912495"/>
            <a:ext cx="6776085" cy="8445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4300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40000"/>
                </a:srgbClr>
              </a:gs>
              <a:gs pos="95000">
                <a:srgbClr val="6389D3">
                  <a:alpha val="74000"/>
                </a:srgbClr>
              </a:gs>
              <a:gs pos="100000">
                <a:srgbClr val="6389D3">
                  <a:alpha val="74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-4212590" y="912495"/>
            <a:ext cx="6776085" cy="844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-382905" y="5506085"/>
            <a:ext cx="3740785" cy="4978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40000"/>
                </a:srgbClr>
              </a:gs>
              <a:gs pos="95000">
                <a:srgbClr val="6389D3">
                  <a:alpha val="51000"/>
                </a:srgbClr>
              </a:gs>
              <a:gs pos="100000">
                <a:srgbClr val="6389D3">
                  <a:alpha val="51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-382905" y="5506085"/>
            <a:ext cx="3740785" cy="497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64100" y="1531620"/>
            <a:ext cx="5421630" cy="1367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86C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核心目标一句话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6292D4">
                  <a:alpha val="57000"/>
                </a:srgbClr>
              </a:gs>
              <a:gs pos="42000">
                <a:srgbClr val="6292D4">
                  <a:alpha val="18000"/>
                </a:srgbClr>
              </a:gs>
              <a:gs pos="72000">
                <a:srgbClr val="B3CBF9">
                  <a:alpha val="46000"/>
                </a:srgbClr>
              </a:gs>
              <a:gs pos="100000">
                <a:srgbClr val="D1DCF2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7380000">
            <a:off x="10499725" y="5747385"/>
            <a:ext cx="675640" cy="675640"/>
          </a:xfrm>
          <a:prstGeom prst="ellipse">
            <a:avLst/>
          </a:prstGeom>
          <a:gradFill flip="none" rotWithShape="1">
            <a:gsLst>
              <a:gs pos="0">
                <a:srgbClr val="6292D4">
                  <a:alpha val="57000"/>
                </a:srgbClr>
              </a:gs>
              <a:gs pos="27000">
                <a:srgbClr val="6292D4">
                  <a:alpha val="48000"/>
                </a:srgbClr>
              </a:gs>
              <a:gs pos="72000">
                <a:srgbClr val="B3CBF9">
                  <a:alpha val="74000"/>
                </a:srgbClr>
              </a:gs>
              <a:gs pos="100000">
                <a:srgbClr val="B5C7EA">
                  <a:alpha val="3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 rot="7380000">
            <a:off x="10499725" y="5747385"/>
            <a:ext cx="675640" cy="675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7380000">
            <a:off x="324485" y="6371590"/>
            <a:ext cx="1114425" cy="1114425"/>
          </a:xfrm>
          <a:prstGeom prst="ellipse">
            <a:avLst/>
          </a:prstGeom>
          <a:gradFill flip="none" rotWithShape="1">
            <a:gsLst>
              <a:gs pos="0">
                <a:srgbClr val="6292D4">
                  <a:alpha val="22000"/>
                </a:srgbClr>
              </a:gs>
              <a:gs pos="27000">
                <a:srgbClr val="6292D4">
                  <a:alpha val="32000"/>
                </a:srgbClr>
              </a:gs>
              <a:gs pos="72000">
                <a:srgbClr val="B3CBF9">
                  <a:alpha val="74000"/>
                </a:srgbClr>
              </a:gs>
              <a:gs pos="100000">
                <a:srgbClr val="B5C7EA">
                  <a:alpha val="3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 rot="7380000">
            <a:off x="324485" y="6371590"/>
            <a:ext cx="1114425" cy="1114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4-14:54:58-d2sjfgm1bb2p4onbpv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7" y="2208530"/>
            <a:ext cx="2895600" cy="2895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64100" y="303720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6A95D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64100" y="3797935"/>
            <a:ext cx="6675755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MES的核心目标是实现订单进度实时可查、一次合格率可统计、设备故障可记录。这三项功能在系统上线后即可使用，无需等待二期开发，帮助工厂快速提升生产管理水平。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系统结构与实现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02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0">
          <a:gsLst>
            <a:gs pos="0">
              <a:srgbClr val="94B9FF">
                <a:alpha val="54000"/>
              </a:srgbClr>
            </a:gs>
            <a:gs pos="12000">
              <a:srgbClr val="94B9FF">
                <a:alpha val="54000"/>
              </a:srgbClr>
            </a:gs>
            <a:gs pos="40000">
              <a:srgbClr val="94B9FF">
                <a:alpha val="35000"/>
              </a:srgbClr>
            </a:gs>
            <a:gs pos="68000">
              <a:srgbClr val="94B9FF">
                <a:alpha val="2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3555" y="3703320"/>
            <a:ext cx="3856355" cy="258762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81525" y="1299845"/>
            <a:ext cx="634365" cy="634365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81525" y="129984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4-14:55:08-d2sjfj61bb2p4onbq070.png"/>
          <p:cNvPicPr>
            <a:picLocks noChangeAspect="1"/>
          </p:cNvPicPr>
          <p:nvPr/>
        </p:nvPicPr>
        <p:blipFill>
          <a:blip r:embed="rId3">
            <a:alphaModFix amt="87000"/>
          </a:blip>
          <a:srcRect t="6012" b="6012"/>
          <a:stretch/>
        </p:blipFill>
        <p:spPr>
          <a:xfrm>
            <a:off x="5850255" y="1395730"/>
            <a:ext cx="5867400" cy="2212340"/>
          </a:xfrm>
          <a:prstGeom prst="rect">
            <a:avLst/>
          </a:prstGeom>
        </p:spPr>
      </p:pic>
      <p:pic>
        <p:nvPicPr>
          <p:cNvPr id="16" name="Image 1" descr="https://kimi-img.moonshot.cn/pub/slides/slides_tmpl/image/25-09-04-14:55:10-d2sjfjm1bb2p4onbq0b0.png"/>
          <p:cNvPicPr>
            <a:picLocks noChangeAspect="1"/>
          </p:cNvPicPr>
          <p:nvPr/>
        </p:nvPicPr>
        <p:blipFill>
          <a:blip r:embed="rId4">
            <a:alphaModFix amt="95000"/>
          </a:blip>
          <a:srcRect t="4674" b="4674"/>
          <a:stretch/>
        </p:blipFill>
        <p:spPr>
          <a:xfrm>
            <a:off x="4523740" y="3880485"/>
            <a:ext cx="4408805" cy="223393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 rot="10800000">
            <a:off x="4581525" y="3308985"/>
            <a:ext cx="6776085" cy="650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68000"/>
                </a:srgbClr>
              </a:gs>
              <a:gs pos="100000">
                <a:srgbClr val="6389D3">
                  <a:alpha val="6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 rot="10800000">
            <a:off x="4581525" y="3308985"/>
            <a:ext cx="6776085" cy="650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2920" y="1534795"/>
            <a:ext cx="5850890" cy="193929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339330" y="3754755"/>
            <a:ext cx="4377690" cy="256857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2" descr="https://kimi-img.moonshot.cn/pub/slides/slides_tmpl/image/25-09-04-14:54:56-d2sjfg61bb2p4onbpvp0.png"/>
          <p:cNvPicPr>
            <a:picLocks noChangeAspect="1"/>
          </p:cNvPicPr>
          <p:nvPr/>
        </p:nvPicPr>
        <p:blipFill>
          <a:blip r:embed="rId5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189" y="1663533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前端技术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8015" y="1986280"/>
            <a:ext cx="5395595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前端采用Vue.js 3.x作为核心框架，结合Vite 5.x进行项目构建，Element Plus 2.x提供UI组件库。这种组合确保了用户界面的流畅性和良好的交互体验。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后端技术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09600" y="4314825"/>
            <a:ext cx="3667760" cy="12799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后端基于Spring Boot 3.x构建，使用Spring Security 6.x进行安全认证与授权，MyBatis 3.x作为数据库持久层框架。MySQL 8.0用于数据存储，Redis 7.0作为缓存数据库。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425690" y="385572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483475" y="4326255"/>
            <a:ext cx="4121150" cy="12799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采用前后端分离架构，前端负责用户界面和交互，后端处理业务逻辑。这种架构使得前后端可以独立开发和升级，降低了耦合度，提高了系统的可维护性和可扩展性。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0">
          <a:gsLst>
            <a:gs pos="0">
              <a:srgbClr val="94B9FF">
                <a:alpha val="53000"/>
              </a:srgbClr>
            </a:gs>
            <a:gs pos="9000">
              <a:srgbClr val="94B9FF">
                <a:alpha val="53000"/>
              </a:srgbClr>
            </a:gs>
            <a:gs pos="40000">
              <a:srgbClr val="94B9FF">
                <a:alpha val="31000"/>
              </a:srgbClr>
            </a:gs>
            <a:gs pos="61000">
              <a:srgbClr val="94B9FF">
                <a:alpha val="5000"/>
              </a:srgbClr>
            </a:gs>
            <a:gs pos="98000">
              <a:srgbClr val="94B9FF">
                <a:alpha val="50000"/>
              </a:srgbClr>
            </a:gs>
            <a:gs pos="100000">
              <a:srgbClr val="94B9FF">
                <a:alpha val="50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代码目录一览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0745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  <a:gs pos="100000">
                  <a:srgbClr val="6A95D0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80745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8560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  <a:gs pos="100000">
                  <a:srgbClr val="6A95D0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58560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4-14:55:03-d2sjfhu1bb2p4onbq010.png"/>
          <p:cNvPicPr>
            <a:picLocks noChangeAspect="1"/>
          </p:cNvPicPr>
          <p:nvPr/>
        </p:nvPicPr>
        <p:blipFill>
          <a:blip r:embed="rId3"/>
          <a:srcRect t="10576" b="10576"/>
          <a:stretch/>
        </p:blipFill>
        <p:spPr>
          <a:xfrm>
            <a:off x="1195070" y="2186305"/>
            <a:ext cx="4434205" cy="1597660"/>
          </a:xfrm>
          <a:prstGeom prst="rect">
            <a:avLst/>
          </a:prstGeom>
        </p:spPr>
      </p:pic>
      <p:pic>
        <p:nvPicPr>
          <p:cNvPr id="16" name="Image 1" descr="https://kimi-img.moonshot.cn/pub/slides/slides_tmpl/image/25-09-04-14:55:06-d2sjfim1bb2p4onbq040.png"/>
          <p:cNvPicPr>
            <a:picLocks noChangeAspect="1"/>
          </p:cNvPicPr>
          <p:nvPr/>
        </p:nvPicPr>
        <p:blipFill>
          <a:blip r:embed="rId4"/>
          <a:srcRect t="8233" b="8233"/>
          <a:stretch/>
        </p:blipFill>
        <p:spPr>
          <a:xfrm>
            <a:off x="6548120" y="2186305"/>
            <a:ext cx="4462145" cy="1597660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09-04-14:54:57-d2sjfge1bb2p4onbpvr0.png"/>
          <p:cNvPicPr>
            <a:picLocks noChangeAspect="1"/>
          </p:cNvPicPr>
          <p:nvPr/>
        </p:nvPicPr>
        <p:blipFill>
          <a:blip r:embed="rId5">
            <a:alphaModFix amt="83000"/>
          </a:blip>
          <a:srcRect l="25401" t="16194" r="42943" b="26759"/>
          <a:stretch/>
        </p:blipFill>
        <p:spPr>
          <a:xfrm>
            <a:off x="9862185" y="4380865"/>
            <a:ext cx="3859530" cy="391223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90650" y="1471295"/>
            <a:ext cx="3994150" cy="461645"/>
          </a:xfrm>
          <a:prstGeom prst="roundRect">
            <a:avLst>
              <a:gd name="adj" fmla="val 27647"/>
            </a:avLst>
          </a:prstGeom>
          <a:gradFill flip="none" rotWithShape="1">
            <a:gsLst>
              <a:gs pos="0">
                <a:srgbClr val="7A9EDA">
                  <a:alpha val="85000"/>
                </a:srgbClr>
              </a:gs>
              <a:gs pos="91000">
                <a:srgbClr val="678DD3"/>
              </a:gs>
              <a:gs pos="100000">
                <a:srgbClr val="678DD3"/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1390650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前端目录结构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098550" y="4037330"/>
            <a:ext cx="453072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前端项目目录包括src文件夹，其中api封装API请求，components存放通用组件，router配置路由，stores管理状态，views包含页面组件。package.json文件用于配置前端依赖。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768465" y="1471295"/>
            <a:ext cx="3994150" cy="461645"/>
          </a:xfrm>
          <a:prstGeom prst="roundRect">
            <a:avLst>
              <a:gd name="adj" fmla="val 27647"/>
            </a:avLst>
          </a:prstGeom>
          <a:gradFill flip="none" rotWithShape="1">
            <a:gsLst>
              <a:gs pos="0">
                <a:srgbClr val="7A9EDA">
                  <a:alpha val="90000"/>
                </a:srgbClr>
              </a:gs>
              <a:gs pos="91000">
                <a:srgbClr val="678DD3"/>
              </a:gs>
              <a:gs pos="100000">
                <a:srgbClr val="678DD3"/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6768465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后端目录结构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76365" y="4037330"/>
            <a:ext cx="453390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后端项目目录包括src文件夹，其中controller存放控制器代码，mapper是数据访问层，model定义数据模型，service处理业务逻辑。pom.xml文件配置后端依赖。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已交付功能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03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0">
          <a:gsLst>
            <a:gs pos="0">
              <a:srgbClr val="94B9FF">
                <a:alpha val="39000"/>
              </a:srgbClr>
            </a:gs>
            <a:gs pos="9000">
              <a:srgbClr val="94B9FF">
                <a:alpha val="39000"/>
              </a:srgbClr>
            </a:gs>
            <a:gs pos="38000">
              <a:srgbClr val="94B9FF">
                <a:alpha val="44000"/>
              </a:srgbClr>
            </a:gs>
            <a:gs pos="72000">
              <a:srgbClr val="94B9FF">
                <a:alpha val="13000"/>
              </a:srgbClr>
            </a:gs>
            <a:gs pos="100000">
              <a:srgbClr val="94B9FF">
                <a:alpha val="59000"/>
              </a:srgbClr>
            </a:gs>
          </a:gsLst>
          <a:lin ang="3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0.png"/>
          <p:cNvPicPr>
            <a:picLocks noChangeAspect="1"/>
          </p:cNvPicPr>
          <p:nvPr/>
        </p:nvPicPr>
        <p:blipFill>
          <a:blip r:embed="rId3">
            <a:alphaModFix amt="74000"/>
          </a:blip>
          <a:srcRect t="41588"/>
          <a:stretch/>
        </p:blipFill>
        <p:spPr>
          <a:xfrm>
            <a:off x="448310" y="0"/>
            <a:ext cx="7380605" cy="24250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35" y="1473835"/>
            <a:ext cx="12192635" cy="1571625"/>
          </a:xfrm>
          <a:prstGeom prst="rect">
            <a:avLst/>
          </a:prstGeom>
          <a:gradFill flip="none" rotWithShape="1">
            <a:gsLst>
              <a:gs pos="0">
                <a:srgbClr val="92ABDF">
                  <a:alpha val="82000"/>
                </a:srgbClr>
              </a:gs>
              <a:gs pos="42000">
                <a:srgbClr val="92ABDF">
                  <a:alpha val="82000"/>
                </a:srgbClr>
              </a:gs>
              <a:gs pos="100000">
                <a:srgbClr val="4874CB">
                  <a:alpha val="7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-635" y="1473835"/>
            <a:ext cx="12192635" cy="1571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97470" y="1614805"/>
            <a:ext cx="3957955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计划与排程可用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87428" y="3540443"/>
            <a:ext cx="0" cy="2532924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874CB">
                    <a:alpha val="0"/>
                  </a:srgbClr>
                </a:gs>
                <a:gs pos="10000">
                  <a:srgbClr val="4874CB">
                    <a:alpha val="0"/>
                  </a:srgbClr>
                </a:gs>
                <a:gs pos="50000">
                  <a:srgbClr val="4874CB">
                    <a:alpha val="50000"/>
                  </a:srgbClr>
                </a:gs>
                <a:gs pos="90000">
                  <a:srgbClr val="4874CB">
                    <a:alpha val="0"/>
                  </a:srgbClr>
                </a:gs>
                <a:gs pos="100000">
                  <a:srgbClr val="4874CB">
                    <a:alpha val="0"/>
                  </a:srgbClr>
                </a:gs>
              </a:gsLst>
              <a:lin ang="162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65785" y="44513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61000"/>
                </a:srgbClr>
              </a:gs>
              <a:gs pos="20000">
                <a:srgbClr val="4874CB">
                  <a:alpha val="61000"/>
                </a:srgbClr>
              </a:gs>
              <a:gs pos="43000">
                <a:srgbClr val="4874CB">
                  <a:alpha val="66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657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985" y="44513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>
                    <a:alpha val="91000"/>
                  </a:srgbClr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959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0885" y="44513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66000"/>
                </a:srgbClr>
              </a:gs>
              <a:gs pos="20000">
                <a:srgbClr val="4874CB">
                  <a:alpha val="66000"/>
                </a:srgbClr>
              </a:gs>
              <a:gs pos="43000">
                <a:srgbClr val="4874CB">
                  <a:alpha val="59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308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9-04-14:55:01-d2sjfhe1bb2p4onbpv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" y="1009843"/>
            <a:ext cx="3657600" cy="248920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4-14:55:02-d2sjfhm1bb2p4onbq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290" y="1033034"/>
            <a:ext cx="3657600" cy="2489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5269" y="3776772"/>
            <a:ext cx="4964861" cy="478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665269" y="3776772"/>
            <a:ext cx="4964861" cy="478893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A7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计划管理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5269" y="4463967"/>
            <a:ext cx="4964861" cy="1867301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系统提供生产计划的创建、修改和查询功能。用户可以方便地在系统中录入新的生产计划，并根据实际情况进行调整。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538375" y="3776772"/>
            <a:ext cx="4964861" cy="478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6538375" y="3776772"/>
            <a:ext cx="4964861" cy="478893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A7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任务排程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38375" y="4472222"/>
            <a:ext cx="4964861" cy="1867936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基于甘特图的生产任务排程功能已经实现。用户可以在甘特图上直观地调整任务的起止时间和顺序，系统会实时更新任务的排程信息。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0">
          <a:gsLst>
            <a:gs pos="0">
              <a:srgbClr val="94B9FF">
                <a:alpha val="64000"/>
              </a:srgbClr>
            </a:gs>
            <a:gs pos="8000">
              <a:srgbClr val="94B9FF">
                <a:alpha val="64000"/>
              </a:srgbClr>
            </a:gs>
            <a:gs pos="37000">
              <a:srgbClr val="94B9FF">
                <a:alpha val="6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54000"/>
              </a:srgbClr>
            </a:gs>
            <a:gs pos="100000">
              <a:srgbClr val="94B9FF">
                <a:alpha val="54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93865" y="3733721"/>
            <a:ext cx="4930140" cy="2505075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93865" y="3733721"/>
            <a:ext cx="4930140" cy="2505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793230" y="1016794"/>
            <a:ext cx="4930775" cy="2505075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793230" y="1016794"/>
            <a:ext cx="4930775" cy="2505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16200000">
            <a:off x="2184400" y="4538980"/>
            <a:ext cx="6776085" cy="5041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55000"/>
                </a:srgbClr>
              </a:gs>
              <a:gs pos="100000">
                <a:srgbClr val="6389D3">
                  <a:alpha val="5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 rot="16200000">
            <a:off x="2184400" y="453898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执行与报工闭环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0" descr="https://kimi-img.moonshot.cn/pub/slides/slides_tmpl/image/25-09-04-14:54:56-d2sjfg61bb2p4onbpvp0.png"/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11810" y="1342390"/>
            <a:ext cx="4371975" cy="4796790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11810" y="1342390"/>
            <a:ext cx="4371975" cy="47967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 rot="10800000">
            <a:off x="177800" y="6485890"/>
            <a:ext cx="8467090" cy="6045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42000"/>
                </a:srgbClr>
              </a:gs>
              <a:gs pos="100000">
                <a:srgbClr val="6389D3">
                  <a:alpha val="42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 rot="10800000">
            <a:off x="177800" y="6485890"/>
            <a:ext cx="8467090" cy="604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2" name="Image 1" descr="https://kimi-img.moonshot.cn/pub/slides/slides_tmpl/image/25-09-04-14:55:09-d2sjfje1bb2p4onbq0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97" y="1466215"/>
            <a:ext cx="4038600" cy="2044700"/>
          </a:xfrm>
          <a:prstGeom prst="rect">
            <a:avLst/>
          </a:prstGeom>
        </p:spPr>
      </p:pic>
      <p:pic>
        <p:nvPicPr>
          <p:cNvPr id="23" name="Image 2" descr="https://kimi-img.moonshot.cn/pub/slides/slides_tmpl/image/25-09-04-14:55:09-d2sjfje1bb2p4onbq0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395" y="1648487"/>
            <a:ext cx="1562100" cy="1549400"/>
          </a:xfrm>
          <a:prstGeom prst="rect">
            <a:avLst/>
          </a:prstGeom>
        </p:spPr>
      </p:pic>
      <p:pic>
        <p:nvPicPr>
          <p:cNvPr id="24" name="Image 3" descr="https://kimi-img.moonshot.cn/pub/slides/slides_tmpl/image/25-09-04-14:55:09-d2sjfje1bb2p4onbq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345" y="4102458"/>
            <a:ext cx="1600200" cy="1600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97510" y="3636010"/>
            <a:ext cx="464121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任务分配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63270" y="4069715"/>
            <a:ext cx="3881120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生产任务可以方便地分配给操作员。车间主任在任务列表中选择任务后点击分配，系统会将任务状态更新为已派发，并通知操作员。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957060" y="1251109"/>
            <a:ext cx="3732530" cy="245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报工记录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957060" y="1653064"/>
            <a:ext cx="4660900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操作员在终端进行生产数据的采集和上报。完成生产任务后，操作员填写实际产量、工时等信息，并提交报工，系统会更新订单的累计产量。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957060" y="3889296"/>
            <a:ext cx="3732530" cy="245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异常处理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957060" y="4291251"/>
            <a:ext cx="4603750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生产过程中出现的异常情况可以记录和处理。操作员发现异常后可以一键上报，填写异常信息，相关负责人处理后可以结案。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0">
          <a:gsLst>
            <a:gs pos="0">
              <a:srgbClr val="94B9FF">
                <a:alpha val="32000"/>
              </a:srgbClr>
            </a:gs>
            <a:gs pos="9000">
              <a:srgbClr val="94B9FF">
                <a:alpha val="32000"/>
              </a:srgbClr>
            </a:gs>
            <a:gs pos="40000">
              <a:srgbClr val="94B9FF">
                <a:alpha val="14000"/>
              </a:srgbClr>
            </a:gs>
            <a:gs pos="62000">
              <a:srgbClr val="94B9FF">
                <a:alpha val="0"/>
              </a:srgbClr>
            </a:gs>
            <a:gs pos="98000">
              <a:srgbClr val="94B9FF">
                <a:alpha val="32000"/>
              </a:srgbClr>
            </a:gs>
            <a:gs pos="100000">
              <a:srgbClr val="94B9FF">
                <a:alpha val="32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201025" y="6865620"/>
            <a:ext cx="6776085" cy="7239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70000"/>
                </a:srgbClr>
              </a:gs>
              <a:gs pos="100000">
                <a:srgbClr val="6389D3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8201025" y="6865620"/>
            <a:ext cx="6776085" cy="723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质量与设备模块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0" descr="https://kimi-img.moonshot.cn/pub/slides/slides_tmpl/image/25-09-04-14:55:05-d2sjfie1bb2p4onbq02g.png"/>
          <p:cNvPicPr>
            <a:picLocks noChangeAspect="1"/>
          </p:cNvPicPr>
          <p:nvPr/>
        </p:nvPicPr>
        <p:blipFill>
          <a:blip r:embed="rId3">
            <a:alphaModFix amt="94000"/>
          </a:blip>
          <a:srcRect l="13119" b="11073"/>
          <a:stretch/>
        </p:blipFill>
        <p:spPr>
          <a:xfrm>
            <a:off x="6403340" y="1471930"/>
            <a:ext cx="2560955" cy="46609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16200000">
            <a:off x="5544185" y="3966845"/>
            <a:ext cx="6776085" cy="650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68000"/>
                </a:srgbClr>
              </a:gs>
              <a:gs pos="100000">
                <a:srgbClr val="6389D3">
                  <a:alpha val="6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 rot="16200000">
            <a:off x="5544185" y="3966845"/>
            <a:ext cx="6776085" cy="650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1" descr="https://kimi-img.moonshot.cn/pub/slides/slides_tmpl/image/25-09-04-14:55:05-d2sjfie1bb2p4onbq020.png"/>
          <p:cNvPicPr>
            <a:picLocks noChangeAspect="1"/>
          </p:cNvPicPr>
          <p:nvPr/>
        </p:nvPicPr>
        <p:blipFill>
          <a:blip r:embed="rId4">
            <a:alphaModFix amt="77000"/>
          </a:blip>
          <a:srcRect l="9370" r="17339"/>
          <a:stretch/>
        </p:blipFill>
        <p:spPr>
          <a:xfrm>
            <a:off x="9059545" y="1471930"/>
            <a:ext cx="2560955" cy="46609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 rot="16200000">
            <a:off x="-213360" y="2343785"/>
            <a:ext cx="1623695" cy="1200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62000"/>
                </a:srgbClr>
              </a:gs>
              <a:gs pos="100000">
                <a:srgbClr val="4874CB">
                  <a:alpha val="62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 rot="16200000">
            <a:off x="-213360" y="2343785"/>
            <a:ext cx="1623695" cy="1200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 rot="16200000">
            <a:off x="-217170" y="4789170"/>
            <a:ext cx="1630045" cy="1193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62000"/>
                </a:srgbClr>
              </a:gs>
              <a:gs pos="100000">
                <a:srgbClr val="4874CB">
                  <a:alpha val="62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 rot="16200000">
            <a:off x="-217170" y="4789170"/>
            <a:ext cx="1630045" cy="1193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67410" y="1427480"/>
            <a:ext cx="444944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质量管理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7410" y="1915160"/>
            <a:ext cx="5130165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质量检验任务可以创建和执行，质量数据可以记录和查询。系统支持产品质量追溯功能，通过产品批次号可以查看全生命周期信息。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67410" y="3857625"/>
            <a:ext cx="444944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设备管理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67410" y="4389120"/>
            <a:ext cx="5130165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设备基本信息可以管理，设备运行状态可以监控。设备维护记录可以管理，包括维护计划的制定和维护完成后的记录。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技术栈与版本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04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0527030" y="5723255"/>
            <a:ext cx="6776085" cy="2762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前端依赖清单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440" y="1848485"/>
            <a:ext cx="3368040" cy="4286250"/>
          </a:xfrm>
          <a:prstGeom prst="round2DiagRect">
            <a:avLst>
              <a:gd name="adj1" fmla="val 12858"/>
              <a:gd name="adj2" fmla="val 0"/>
            </a:avLst>
          </a:prstGeom>
          <a:gradFill flip="none" rotWithShape="1">
            <a:gsLst>
              <a:gs pos="0">
                <a:srgbClr val="FFFFFF">
                  <a:alpha val="5000"/>
                </a:srgbClr>
              </a:gs>
              <a:gs pos="100000">
                <a:srgbClr val="376FFF">
                  <a:alpha val="25000"/>
                </a:srgbClr>
              </a:gs>
            </a:gsLst>
            <a:lin ang="5400000" scaled="1"/>
          </a:gradFill>
          <a:ln w="19050">
            <a:solidFill>
              <a:srgbClr val="87A9FF">
                <a:alpha val="45098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43430" y="1477328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04343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44395" y="1578293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4874CB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144395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9" name="Image 0" descr="https://kimi-img.moonshot.cn/pub/slides/slides_tmpl/image/25-09-04-14:55:08-d2sjfj61bb2p4onbq05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510" y="1735773"/>
            <a:ext cx="215900" cy="21653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442460" y="1848485"/>
            <a:ext cx="3368040" cy="4285615"/>
          </a:xfrm>
          <a:prstGeom prst="round2DiagRect">
            <a:avLst>
              <a:gd name="adj1" fmla="val 12858"/>
              <a:gd name="adj2" fmla="val 0"/>
            </a:avLst>
          </a:prstGeom>
          <a:gradFill flip="none" rotWithShape="1">
            <a:gsLst>
              <a:gs pos="0">
                <a:srgbClr val="FFFFFF">
                  <a:alpha val="5000"/>
                </a:srgbClr>
              </a:gs>
              <a:gs pos="100000">
                <a:srgbClr val="376FFF">
                  <a:alpha val="25000"/>
                </a:srgbClr>
              </a:gs>
            </a:gsLst>
            <a:lin ang="5400000" scaled="1"/>
          </a:gradFill>
          <a:ln w="19050">
            <a:solidFill>
              <a:srgbClr val="87A9FF">
                <a:alpha val="45098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59450" y="1477328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61050" y="1578293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5A7DD4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6" name="Image 1" descr="https://kimi-img.moonshot.cn/pub/slides/slides_tmpl/image/25-09-04-14:55:08-d2sjfj61bb2p4onbq06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5830" y="1723073"/>
            <a:ext cx="241935" cy="24257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158480" y="1849755"/>
            <a:ext cx="3368040" cy="4283075"/>
          </a:xfrm>
          <a:prstGeom prst="round2DiagRect">
            <a:avLst>
              <a:gd name="adj1" fmla="val 12858"/>
              <a:gd name="adj2" fmla="val 0"/>
            </a:avLst>
          </a:prstGeom>
          <a:gradFill flip="none" rotWithShape="1">
            <a:gsLst>
              <a:gs pos="0">
                <a:srgbClr val="FFFFFF">
                  <a:alpha val="5000"/>
                </a:srgbClr>
              </a:gs>
              <a:gs pos="100000">
                <a:srgbClr val="376FFF">
                  <a:alpha val="25000"/>
                </a:srgbClr>
              </a:gs>
            </a:gsLst>
            <a:lin ang="5400000" scaled="1"/>
          </a:gradFill>
          <a:ln w="19050">
            <a:solidFill>
              <a:srgbClr val="87A9FF">
                <a:alpha val="45098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9475470" y="1476058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9577070" y="1577023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5A7DD4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3" name="Image 2" descr="https://kimi-img.moonshot.cn/pub/slides/slides_tmpl/image/25-09-04-14:55:08-d2sjfj61bb2p4onbq06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1850" y="1721803"/>
            <a:ext cx="241935" cy="242570"/>
          </a:xfrm>
          <a:prstGeom prst="rect">
            <a:avLst/>
          </a:prstGeom>
        </p:spPr>
      </p:pic>
      <p:pic>
        <p:nvPicPr>
          <p:cNvPr id="34" name="Image 3" descr="https://kimi-img.moonshot.cn/pub/slides/slides_tmpl/image/25-09-04-14:54:56-d2sjfg61bb2p4onbpvp0.png"/>
          <p:cNvPicPr>
            <a:picLocks noChangeAspect="1"/>
          </p:cNvPicPr>
          <p:nvPr/>
        </p:nvPicPr>
        <p:blipFill>
          <a:blip r:embed="rId9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-3182620" y="6503670"/>
            <a:ext cx="6776085" cy="5041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55000"/>
                </a:srgbClr>
              </a:gs>
              <a:gs pos="100000">
                <a:srgbClr val="6389D3">
                  <a:alpha val="5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/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 rot="10800000">
            <a:off x="11485880" y="6080760"/>
            <a:ext cx="6776085" cy="5295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51000"/>
                </a:srgbClr>
              </a:gs>
              <a:gs pos="100000">
                <a:srgbClr val="6389D3">
                  <a:alpha val="51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3289935" y="5526723"/>
            <a:ext cx="753745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>
              <a:lnSpc>
                <a:spcPct val="140000"/>
              </a:lnSpc>
            </a:pPr>
            <a:r>
              <a:rPr lang="en-US" sz="4000" b="1" dirty="0">
                <a:solidFill>
                  <a:srgbClr val="376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41705" y="2353310"/>
            <a:ext cx="306070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Vue.js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888365" y="3201670"/>
            <a:ext cx="3060700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Vue.js 3.x作为前端核心框架，提供高效的组件化开发方式，使得页面构建更加灵活和高效。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7005955" y="5526723"/>
            <a:ext cx="753745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>
              <a:lnSpc>
                <a:spcPct val="140000"/>
              </a:lnSpc>
            </a:pPr>
            <a:r>
              <a:rPr lang="en-US" sz="4000" b="1" dirty="0">
                <a:solidFill>
                  <a:srgbClr val="376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4596130" y="2353310"/>
            <a:ext cx="306070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Vite</a:t>
            </a:r>
            <a:endParaRPr lang="en-US" sz="1600" dirty="0"/>
          </a:p>
        </p:txBody>
      </p:sp>
      <p:sp>
        <p:nvSpPr>
          <p:cNvPr id="44" name="Text 38"/>
          <p:cNvSpPr/>
          <p:nvPr/>
        </p:nvSpPr>
        <p:spPr>
          <a:xfrm>
            <a:off x="4604385" y="3201670"/>
            <a:ext cx="3060700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Vite 5.x作为项目构建工具，提供了快速的开发服务器启动和热模块替换功能，大大提高了开发效率。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10669270" y="5526723"/>
            <a:ext cx="753745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>
              <a:lnSpc>
                <a:spcPct val="140000"/>
              </a:lnSpc>
            </a:pPr>
            <a:r>
              <a:rPr lang="en-US" sz="4000" b="1" dirty="0">
                <a:solidFill>
                  <a:srgbClr val="376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8312150" y="2353310"/>
            <a:ext cx="306070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 Plus</a:t>
            </a:r>
            <a:endParaRPr lang="en-US" sz="1600" dirty="0"/>
          </a:p>
        </p:txBody>
      </p:sp>
      <p:sp>
        <p:nvSpPr>
          <p:cNvPr id="47" name="Text 41"/>
          <p:cNvSpPr/>
          <p:nvPr/>
        </p:nvSpPr>
        <p:spPr>
          <a:xfrm>
            <a:off x="8328660" y="3232785"/>
            <a:ext cx="3060700" cy="9600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 Plus 2.x作为UI组件库，提供了丰富的组件，使得界面设计更加美观和一致。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0">
          <a:gsLst>
            <a:gs pos="0">
              <a:srgbClr val="94B9FF">
                <a:alpha val="51000"/>
              </a:srgbClr>
            </a:gs>
            <a:gs pos="9000">
              <a:srgbClr val="94B9FF">
                <a:alpha val="51000"/>
              </a:srgbClr>
            </a:gs>
            <a:gs pos="37000">
              <a:srgbClr val="94B9FF">
                <a:alpha val="11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2660015" y="4650105"/>
            <a:ext cx="6776085" cy="650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68000"/>
                </a:srgbClr>
              </a:gs>
              <a:gs pos="100000">
                <a:srgbClr val="6389D3">
                  <a:alpha val="6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6200000">
            <a:off x="-2660015" y="4650105"/>
            <a:ext cx="6776085" cy="650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55:10-d2sjfjm1bb2p4onbq0c0.png"/>
          <p:cNvPicPr>
            <a:picLocks noChangeAspect="1"/>
          </p:cNvPicPr>
          <p:nvPr/>
        </p:nvPicPr>
        <p:blipFill>
          <a:blip r:embed="rId3"/>
          <a:srcRect l="11" r="11"/>
          <a:stretch/>
        </p:blipFill>
        <p:spPr>
          <a:xfrm>
            <a:off x="619125" y="2101215"/>
            <a:ext cx="4103370" cy="3329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后端依赖清单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1" descr="https://kimi-img.moonshot.cn/pub/slides/slides_tmpl/image/25-09-04-14:54:56-d2sjfg61bb2p4onbpvp0.png"/>
          <p:cNvPicPr>
            <a:picLocks noChangeAspect="1"/>
          </p:cNvPicPr>
          <p:nvPr/>
        </p:nvPicPr>
        <p:blipFill>
          <a:blip r:embed="rId4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159375" y="1758950"/>
            <a:ext cx="0" cy="4522470"/>
          </a:xfrm>
          <a:prstGeom prst="line">
            <a:avLst/>
          </a:prstGeom>
          <a:noFill/>
          <a:ln w="25400">
            <a:gradFill flip="none" rotWithShape="1">
              <a:gsLst>
                <a:gs pos="0">
                  <a:srgbClr val="5A7DD4"/>
                </a:gs>
                <a:gs pos="47000">
                  <a:srgbClr val="5A7DD4"/>
                </a:gs>
                <a:gs pos="100000">
                  <a:srgbClr val="C8D5EF"/>
                </a:gs>
              </a:gsLst>
              <a:lin ang="540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4939030" y="1987550"/>
            <a:ext cx="438150" cy="438150"/>
          </a:xfrm>
          <a:prstGeom prst="ellipse">
            <a:avLst/>
          </a:prstGeom>
          <a:gradFill flip="none" rotWithShape="1">
            <a:gsLst>
              <a:gs pos="0">
                <a:srgbClr val="6292D4"/>
              </a:gs>
              <a:gs pos="19000">
                <a:srgbClr val="6292D4"/>
              </a:gs>
              <a:gs pos="100000">
                <a:srgbClr val="87A9FF"/>
              </a:gs>
            </a:gsLst>
            <a:lin ang="5400000" scaled="1"/>
          </a:gradFill>
          <a:ln/>
          <a:effectLst>
            <a:outerShdw blurRad="50800" dist="25400" dir="2700000" algn="bl" rotWithShape="0">
              <a:srgbClr val="002B9B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4939030" y="1987550"/>
            <a:ext cx="438150" cy="4381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503719" y="1563827"/>
            <a:ext cx="5899611" cy="3683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504989" y="1932182"/>
            <a:ext cx="6212657" cy="7595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3.x作为后端核心框架，简化了Spring应用的开发配置，使得项目启动和部署更加便捷。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939030" y="3558540"/>
            <a:ext cx="438150" cy="438150"/>
          </a:xfrm>
          <a:prstGeom prst="ellipse">
            <a:avLst/>
          </a:prstGeom>
          <a:gradFill flip="none" rotWithShape="1">
            <a:gsLst>
              <a:gs pos="0">
                <a:srgbClr val="6292D4"/>
              </a:gs>
              <a:gs pos="19000">
                <a:srgbClr val="6292D4"/>
              </a:gs>
              <a:gs pos="100000">
                <a:srgbClr val="87A9FF"/>
              </a:gs>
            </a:gsLst>
            <a:lin ang="5400000" scaled="1"/>
          </a:gradFill>
          <a:ln/>
          <a:effectLst>
            <a:outerShdw blurRad="50800" dist="25400" dir="2700000" algn="bl" rotWithShape="0">
              <a:srgbClr val="002B9B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4939030" y="3558540"/>
            <a:ext cx="438150" cy="4381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503719" y="3210560"/>
            <a:ext cx="589961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504989" y="3578860"/>
            <a:ext cx="6212657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Security 6.x用于安全认证与授权，确保系统的安全性。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939030" y="5129530"/>
            <a:ext cx="438150" cy="438150"/>
          </a:xfrm>
          <a:prstGeom prst="ellipse">
            <a:avLst/>
          </a:prstGeom>
          <a:gradFill flip="none" rotWithShape="1">
            <a:gsLst>
              <a:gs pos="0">
                <a:srgbClr val="6292D4"/>
              </a:gs>
              <a:gs pos="19000">
                <a:srgbClr val="6292D4"/>
              </a:gs>
              <a:gs pos="100000">
                <a:srgbClr val="87A9FF"/>
              </a:gs>
            </a:gsLst>
            <a:lin ang="5400000" scaled="1"/>
          </a:gradFill>
          <a:ln/>
          <a:effectLst>
            <a:outerShdw blurRad="50800" dist="25400" dir="2700000" algn="bl" rotWithShape="0">
              <a:srgbClr val="002B9B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4939030" y="5129530"/>
            <a:ext cx="438150" cy="4381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503719" y="4807585"/>
            <a:ext cx="589961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504989" y="5175885"/>
            <a:ext cx="6280600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 3.x作为数据库持久层框架，提供了灵活的SQL映射，方便进行数据库操作。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项目分工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05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0">
          <a:gsLst>
            <a:gs pos="0">
              <a:srgbClr val="94B9FF">
                <a:alpha val="50000"/>
              </a:srgbClr>
            </a:gs>
            <a:gs pos="12000">
              <a:srgbClr val="94B9FF">
                <a:alpha val="50000"/>
              </a:srgbClr>
            </a:gs>
            <a:gs pos="36000">
              <a:srgbClr val="94B9FF">
                <a:alpha val="20000"/>
              </a:srgbClr>
            </a:gs>
            <a:gs pos="63000">
              <a:srgbClr val="94B9FF">
                <a:alpha val="21000"/>
              </a:srgbClr>
            </a:gs>
            <a:gs pos="98000">
              <a:srgbClr val="94B9FF">
                <a:alpha val="54000"/>
              </a:srgbClr>
            </a:gs>
            <a:gs pos="100000">
              <a:srgbClr val="94B9FF">
                <a:alpha val="54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10-d2sjfjm1bb2p4onbq0cg.png"/>
          <p:cNvPicPr>
            <a:picLocks noChangeAspect="1"/>
          </p:cNvPicPr>
          <p:nvPr/>
        </p:nvPicPr>
        <p:blipFill>
          <a:blip r:embed="rId3">
            <a:alphaModFix amt="84000"/>
          </a:blip>
          <a:srcRect t="21716" b="21716"/>
          <a:stretch/>
        </p:blipFill>
        <p:spPr>
          <a:xfrm>
            <a:off x="0" y="0"/>
            <a:ext cx="12192000" cy="29559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845" y="635"/>
            <a:ext cx="12162155" cy="2950845"/>
          </a:xfrm>
          <a:prstGeom prst="rect">
            <a:avLst/>
          </a:prstGeom>
          <a:solidFill>
            <a:srgbClr val="7030A0">
              <a:alpha val="3922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29845" y="635"/>
            <a:ext cx="12162155" cy="29508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55:05-d2sjfie1bb2p4onbq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38" y="4041458"/>
            <a:ext cx="2489200" cy="8890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4:55:05-d2sjfie1bb2p4onbq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190" y="4041458"/>
            <a:ext cx="2489200" cy="889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4:55:05-d2sjfie1bb2p4onbq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603" y="4051618"/>
            <a:ext cx="2489200" cy="8890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4-14:55:05-d2sjfie1bb2p4onbq0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097" y="3631248"/>
            <a:ext cx="25400" cy="306070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4-14:55:05-d2sjfie1bb2p4onbq0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599" y="3656648"/>
            <a:ext cx="25400" cy="306070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844868" y="3352800"/>
            <a:ext cx="2599690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3"/>
          <p:cNvSpPr/>
          <p:nvPr/>
        </p:nvSpPr>
        <p:spPr>
          <a:xfrm>
            <a:off x="844868" y="3352800"/>
            <a:ext cx="2599690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邵佳瑞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7688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负责前端框架搭建和核心组件开发，确保前端界面的流畅性和良好的用户体验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744085" y="3352800"/>
            <a:ext cx="2583815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6"/>
          <p:cNvSpPr/>
          <p:nvPr/>
        </p:nvSpPr>
        <p:spPr>
          <a:xfrm>
            <a:off x="4744085" y="3352800"/>
            <a:ext cx="2583815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罗睿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36816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负责后端框架搭建和API接口开发，为前端提供稳定可靠的数据支持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8679498" y="3362960"/>
            <a:ext cx="2600960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9"/>
          <p:cNvSpPr/>
          <p:nvPr/>
        </p:nvSpPr>
        <p:spPr>
          <a:xfrm>
            <a:off x="8679498" y="3362960"/>
            <a:ext cx="2600960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麻翰文</a:t>
            </a:r>
            <a:r>
              <a:rPr lang="zh-CN" altLang="en-US" sz="2000" dirty="0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、李垍泯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8312150" y="425323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参与数据库设计和数据模型开发，为系统的数据存储和管理提供坚实基础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0">
          <a:gsLst>
            <a:gs pos="0">
              <a:srgbClr val="94B9FF">
                <a:alpha val="39000"/>
              </a:srgbClr>
            </a:gs>
            <a:gs pos="8000">
              <a:srgbClr val="94B9FF">
                <a:alpha val="39000"/>
              </a:srgbClr>
            </a:gs>
            <a:gs pos="37000">
              <a:srgbClr val="94B9FF">
                <a:alpha val="18000"/>
              </a:srgbClr>
            </a:gs>
            <a:gs pos="69000">
              <a:srgbClr val="94B9FF">
                <a:alpha val="1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745" y="1133475"/>
            <a:ext cx="3103245" cy="11620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团队成员与交付边界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043680" y="629981"/>
            <a:ext cx="7693613" cy="1674434"/>
          </a:xfrm>
          <a:prstGeom prst="roundRect">
            <a:avLst>
              <a:gd name="adj" fmla="val 16667"/>
            </a:avLst>
          </a:prstGeom>
          <a:gradFill flip="none" rotWithShape="0">
            <a:gsLst>
              <a:gs pos="0">
                <a:srgbClr val="94B9FF">
                  <a:alpha val="39000"/>
                </a:srgbClr>
              </a:gs>
              <a:gs pos="8000">
                <a:srgbClr val="94B9FF">
                  <a:alpha val="39000"/>
                </a:srgbClr>
              </a:gs>
              <a:gs pos="37000">
                <a:srgbClr val="94B9FF">
                  <a:alpha val="18000"/>
                </a:srgbClr>
              </a:gs>
              <a:gs pos="69000">
                <a:srgbClr val="94B9FF">
                  <a:alpha val="14000"/>
                </a:srgbClr>
              </a:gs>
              <a:gs pos="98000">
                <a:srgbClr val="94B9FF">
                  <a:alpha val="40000"/>
                </a:srgbClr>
              </a:gs>
              <a:gs pos="100000">
                <a:srgbClr val="94B9FF">
                  <a:alpha val="40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043680" y="629981"/>
            <a:ext cx="7693613" cy="167443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43680" y="628650"/>
            <a:ext cx="7694295" cy="1675765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043680" y="628650"/>
            <a:ext cx="7694295" cy="167576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71290" y="2568636"/>
            <a:ext cx="7765362" cy="1674434"/>
          </a:xfrm>
          <a:prstGeom prst="roundRect">
            <a:avLst>
              <a:gd name="adj" fmla="val 16667"/>
            </a:avLst>
          </a:prstGeom>
          <a:gradFill flip="none" rotWithShape="0">
            <a:gsLst>
              <a:gs pos="0">
                <a:srgbClr val="94B9FF">
                  <a:alpha val="39000"/>
                </a:srgbClr>
              </a:gs>
              <a:gs pos="8000">
                <a:srgbClr val="94B9FF">
                  <a:alpha val="39000"/>
                </a:srgbClr>
              </a:gs>
              <a:gs pos="37000">
                <a:srgbClr val="94B9FF">
                  <a:alpha val="18000"/>
                </a:srgbClr>
              </a:gs>
              <a:gs pos="69000">
                <a:srgbClr val="94B9FF">
                  <a:alpha val="14000"/>
                </a:srgbClr>
              </a:gs>
              <a:gs pos="98000">
                <a:srgbClr val="94B9FF">
                  <a:alpha val="40000"/>
                </a:srgbClr>
              </a:gs>
              <a:gs pos="100000">
                <a:srgbClr val="94B9FF">
                  <a:alpha val="40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971290" y="2568636"/>
            <a:ext cx="7765362" cy="167443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1290" y="2567305"/>
            <a:ext cx="7766050" cy="1675765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971290" y="2567305"/>
            <a:ext cx="7766050" cy="167576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1290" y="4507291"/>
            <a:ext cx="7765362" cy="1674434"/>
          </a:xfrm>
          <a:prstGeom prst="roundRect">
            <a:avLst>
              <a:gd name="adj" fmla="val 16667"/>
            </a:avLst>
          </a:prstGeom>
          <a:gradFill flip="none" rotWithShape="0">
            <a:gsLst>
              <a:gs pos="0">
                <a:srgbClr val="94B9FF">
                  <a:alpha val="39000"/>
                </a:srgbClr>
              </a:gs>
              <a:gs pos="8000">
                <a:srgbClr val="94B9FF">
                  <a:alpha val="39000"/>
                </a:srgbClr>
              </a:gs>
              <a:gs pos="37000">
                <a:srgbClr val="94B9FF">
                  <a:alpha val="18000"/>
                </a:srgbClr>
              </a:gs>
              <a:gs pos="69000">
                <a:srgbClr val="94B9FF">
                  <a:alpha val="14000"/>
                </a:srgbClr>
              </a:gs>
              <a:gs pos="98000">
                <a:srgbClr val="94B9FF">
                  <a:alpha val="40000"/>
                </a:srgbClr>
              </a:gs>
              <a:gs pos="100000">
                <a:srgbClr val="94B9FF">
                  <a:alpha val="40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971290" y="4507291"/>
            <a:ext cx="7765362" cy="167443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1290" y="4505960"/>
            <a:ext cx="7766050" cy="1675765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971290" y="4505960"/>
            <a:ext cx="7766050" cy="167576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4-14:55:09-d2sjfje1bb2p4onbq0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90" y="0"/>
            <a:ext cx="3721100" cy="6858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 rot="16200000">
            <a:off x="-1568450" y="1568450"/>
            <a:ext cx="6858635" cy="3721735"/>
          </a:xfrm>
          <a:prstGeom prst="rect">
            <a:avLst/>
          </a:prstGeom>
          <a:gradFill flip="none" rotWithShape="0">
            <a:gsLst>
              <a:gs pos="0">
                <a:srgbClr val="678DD3">
                  <a:alpha val="29000"/>
                </a:srgbClr>
              </a:gs>
              <a:gs pos="16000">
                <a:srgbClr val="678DD3">
                  <a:alpha val="29000"/>
                </a:srgbClr>
              </a:gs>
              <a:gs pos="59000">
                <a:srgbClr val="678DD3">
                  <a:alpha val="83000"/>
                </a:srgbClr>
              </a:gs>
              <a:gs pos="100000">
                <a:srgbClr val="678DD3">
                  <a:alpha val="8100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 rot="16200000">
            <a:off x="-1568450" y="1568450"/>
            <a:ext cx="6858635" cy="37217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56482" y="1155528"/>
            <a:ext cx="637724" cy="622009"/>
          </a:xfrm>
          <a:prstGeom prst="ellipse">
            <a:avLst/>
          </a:prstGeom>
          <a:gradFill flip="none" rotWithShape="1">
            <a:gsLst>
              <a:gs pos="0">
                <a:srgbClr val="6A95D0">
                  <a:alpha val="58000"/>
                </a:srgbClr>
              </a:gs>
              <a:gs pos="100000">
                <a:srgbClr val="4874CB"/>
              </a:gs>
            </a:gsLst>
            <a:lin ang="240000" scaled="1"/>
          </a:gradFill>
          <a:ln/>
          <a:effectLst>
            <a:outerShdw blurRad="254000" dist="76200" dir="2700000" algn="bl" rotWithShape="0">
              <a:srgbClr val="376FFF">
                <a:alpha val="25098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4256482" y="1155528"/>
            <a:ext cx="637724" cy="62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49296" y="747730"/>
            <a:ext cx="5528761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李燕纯、余晓茵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03598" y="1210079"/>
            <a:ext cx="6412026" cy="98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负责生产计划和质量管理功能模块的实现，提升生产管理的数字化水平。</a:t>
            </a:r>
          </a:p>
        </p:txBody>
      </p:sp>
      <p:sp>
        <p:nvSpPr>
          <p:cNvPr id="22" name="Shape 19"/>
          <p:cNvSpPr/>
          <p:nvPr/>
        </p:nvSpPr>
        <p:spPr>
          <a:xfrm>
            <a:off x="4260426" y="3118132"/>
            <a:ext cx="643671" cy="622009"/>
          </a:xfrm>
          <a:prstGeom prst="ellipse">
            <a:avLst/>
          </a:prstGeom>
          <a:gradFill flip="none" rotWithShape="1">
            <a:gsLst>
              <a:gs pos="0">
                <a:srgbClr val="6A95D0">
                  <a:alpha val="58000"/>
                </a:srgbClr>
              </a:gs>
              <a:gs pos="100000">
                <a:srgbClr val="4874CB"/>
              </a:gs>
            </a:gsLst>
            <a:lin ang="240000" scaled="1"/>
          </a:gradFill>
          <a:ln/>
          <a:effectLst>
            <a:outerShdw blurRad="254000" dist="76200" dir="2700000" algn="bl" rotWithShape="0">
              <a:srgbClr val="376FFF">
                <a:alpha val="25098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4260426" y="3118132"/>
            <a:ext cx="643671" cy="62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91168" y="2670419"/>
            <a:ext cx="5539704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梁晓琪、罗京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0877" y="3132768"/>
            <a:ext cx="6427076" cy="1012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负责生产计划和质量管理功能模块的实现，提升生产管理的数字化水平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270064" y="5032838"/>
            <a:ext cx="634722" cy="622009"/>
          </a:xfrm>
          <a:prstGeom prst="ellipse">
            <a:avLst/>
          </a:prstGeom>
          <a:gradFill flip="none" rotWithShape="1">
            <a:gsLst>
              <a:gs pos="0">
                <a:srgbClr val="6A95D0">
                  <a:alpha val="58000"/>
                </a:srgbClr>
              </a:gs>
              <a:gs pos="100000">
                <a:srgbClr val="4874CB"/>
              </a:gs>
            </a:gsLst>
            <a:lin ang="240000" scaled="1"/>
          </a:gradFill>
          <a:ln/>
          <a:effectLst>
            <a:outerShdw blurRad="254000" dist="76200" dir="2700000" algn="bl" rotWithShape="0">
              <a:srgbClr val="376FFF">
                <a:alpha val="25098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4270064" y="5032838"/>
            <a:ext cx="634722" cy="62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17328" y="4617057"/>
            <a:ext cx="5512856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詹恩惠、郑伟栋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91856" y="5079406"/>
            <a:ext cx="6395409" cy="10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系统测试、</a:t>
            </a:r>
            <a:r>
              <a:rPr lang="en-US" altLang="zh-CN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Bug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修复的位置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的稳定性和可用性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总结与后续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06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flip="none" rotWithShape="0">
          <a:gsLst>
            <a:gs pos="0">
              <a:srgbClr val="94B9FF">
                <a:alpha val="53000"/>
              </a:srgbClr>
            </a:gs>
            <a:gs pos="12000">
              <a:srgbClr val="94B9FF">
                <a:alpha val="53000"/>
              </a:srgbClr>
            </a:gs>
            <a:gs pos="36000">
              <a:srgbClr val="94B9FF">
                <a:alpha val="27000"/>
              </a:srgbClr>
            </a:gs>
            <a:gs pos="68000">
              <a:srgbClr val="94B9FF">
                <a:alpha val="11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4295327" y="3041588"/>
            <a:ext cx="7124700" cy="889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874CB">
                    <a:alpha val="0"/>
                  </a:srgbClr>
                </a:gs>
                <a:gs pos="50000">
                  <a:srgbClr val="4874CB"/>
                </a:gs>
                <a:gs pos="100000">
                  <a:srgbClr val="4874CB">
                    <a:alpha val="0"/>
                  </a:srgbClr>
                </a:gs>
              </a:gsLst>
              <a:lin ang="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flipV="1">
            <a:off x="4348667" y="4732079"/>
            <a:ext cx="7045960" cy="2032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874CB">
                    <a:alpha val="0"/>
                  </a:srgbClr>
                </a:gs>
                <a:gs pos="50000">
                  <a:srgbClr val="4874CB"/>
                </a:gs>
                <a:gs pos="100000">
                  <a:srgbClr val="4874CB">
                    <a:alpha val="0"/>
                  </a:srgbClr>
                </a:gs>
              </a:gsLst>
              <a:lin ang="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交付成果回顾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16200000">
            <a:off x="8924290" y="6858635"/>
            <a:ext cx="6776085" cy="7239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70000"/>
                </a:srgbClr>
              </a:gs>
              <a:gs pos="100000">
                <a:srgbClr val="6389D3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 rot="16200000">
            <a:off x="8924290" y="6858635"/>
            <a:ext cx="6776085" cy="723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rot="16200000">
            <a:off x="18415" y="4185920"/>
            <a:ext cx="6776085" cy="650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68000"/>
                </a:srgbClr>
              </a:gs>
              <a:gs pos="100000">
                <a:srgbClr val="6389D3">
                  <a:alpha val="6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 rot="16200000">
            <a:off x="18415" y="4185920"/>
            <a:ext cx="6776085" cy="650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0" descr="https://kimi-img.moonshot.cn/pub/slides/slides_tmpl/image/25-09-04-14:55:03-d2sjfhu1bb2p4onbq0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24" y="1489392"/>
            <a:ext cx="2667000" cy="46863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178935" y="1474470"/>
            <a:ext cx="604075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交付内容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178935" y="1842770"/>
            <a:ext cx="7306945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团队已交付可编译运行的前后端代码、初始化SQL脚本、用户手册和部署文档。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78935" y="3187020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功能实现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78935" y="3587115"/>
            <a:ext cx="7215505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五大核心功能模块的基本功能已实现并通过测试，系统可在客户虚拟机上一键启动。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78935" y="4879419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快速部署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78935" y="5247640"/>
            <a:ext cx="7240905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客户在收到交付物后，当天即可完成安装验证，大大缩短了系统的上线周期。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gradFill flip="none" rotWithShape="0">
          <a:gsLst>
            <a:gs pos="0">
              <a:srgbClr val="94B9FF">
                <a:alpha val="50000"/>
              </a:srgbClr>
            </a:gs>
            <a:gs pos="12000">
              <a:srgbClr val="94B9FF">
                <a:alpha val="50000"/>
              </a:srgbClr>
            </a:gs>
            <a:gs pos="36000">
              <a:srgbClr val="94B9FF">
                <a:alpha val="20000"/>
              </a:srgbClr>
            </a:gs>
            <a:gs pos="63000">
              <a:srgbClr val="94B9FF">
                <a:alpha val="21000"/>
              </a:srgbClr>
            </a:gs>
            <a:gs pos="98000">
              <a:srgbClr val="94B9FF">
                <a:alpha val="54000"/>
              </a:srgbClr>
            </a:gs>
            <a:gs pos="100000">
              <a:srgbClr val="94B9FF">
                <a:alpha val="54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10-d2sjfjm1bb2p4onbq0cg.png"/>
          <p:cNvPicPr>
            <a:picLocks noChangeAspect="1"/>
          </p:cNvPicPr>
          <p:nvPr/>
        </p:nvPicPr>
        <p:blipFill>
          <a:blip r:embed="rId3">
            <a:alphaModFix amt="84000"/>
          </a:blip>
          <a:srcRect t="21716" b="21716"/>
          <a:stretch/>
        </p:blipFill>
        <p:spPr>
          <a:xfrm>
            <a:off x="0" y="0"/>
            <a:ext cx="12192000" cy="29559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845" y="635"/>
            <a:ext cx="12162155" cy="2950845"/>
          </a:xfrm>
          <a:prstGeom prst="rect">
            <a:avLst/>
          </a:prstGeom>
          <a:solidFill>
            <a:srgbClr val="7030A0">
              <a:alpha val="3922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29845" y="635"/>
            <a:ext cx="12162155" cy="29508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55:05-d2sjfie1bb2p4onbq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38" y="4041458"/>
            <a:ext cx="2489200" cy="8890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4:55:05-d2sjfie1bb2p4onbq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190" y="4041458"/>
            <a:ext cx="2489200" cy="889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4:55:05-d2sjfie1bb2p4onbq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603" y="4051618"/>
            <a:ext cx="2489200" cy="8890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4-14:55:05-d2sjfie1bb2p4onbq0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097" y="3631248"/>
            <a:ext cx="25400" cy="306070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4-14:55:05-d2sjfie1bb2p4onbq0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599" y="3656648"/>
            <a:ext cx="25400" cy="306070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844868" y="3352800"/>
            <a:ext cx="2599690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3"/>
          <p:cNvSpPr/>
          <p:nvPr/>
        </p:nvSpPr>
        <p:spPr>
          <a:xfrm>
            <a:off x="844868" y="3352800"/>
            <a:ext cx="2599690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7688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甘特图在一次性加载超过200条任务时滚动略慢，后续可加分页功能以提升性能。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744085" y="3352800"/>
            <a:ext cx="2583815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6"/>
          <p:cNvSpPr/>
          <p:nvPr/>
        </p:nvSpPr>
        <p:spPr>
          <a:xfrm>
            <a:off x="4744085" y="3352800"/>
            <a:ext cx="2583815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界面定制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36816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报表样式目前沿用Element Plus默认风格，客户若需企业级UI定制，可替换主题。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8679498" y="3362960"/>
            <a:ext cx="2600960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9"/>
          <p:cNvSpPr/>
          <p:nvPr/>
        </p:nvSpPr>
        <p:spPr>
          <a:xfrm>
            <a:off x="8679498" y="3362960"/>
            <a:ext cx="2600960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A7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权限细化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8312150" y="425323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权限粒度目前到模块级，若需字段级控制，可在后端增加注解进行细化。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40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62949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98492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234036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36958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50512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0667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77621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911754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047298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18284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31838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819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57106" y="2098040"/>
            <a:ext cx="0" cy="1844892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39925" y="2018030"/>
            <a:ext cx="9644380" cy="1913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感谢观看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ＴＨＡＮＫＳ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8840" y="1196975"/>
            <a:ext cx="1070546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2025/04/21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0" descr="https://kimi-img.moonshot.cn/pub/slides/slides_tmpl/image/25-09-04-14:54:55-d2sjffu1bb2p4onbpvj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60" y="4203065"/>
            <a:ext cx="303530" cy="142875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9-04-14:54:55-d2sjffu1bb2p4onbpv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25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122410" y="4598035"/>
            <a:ext cx="2331720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9122410" y="459803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9135110" y="4596130"/>
            <a:ext cx="2306955" cy="430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罗睿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529</Words>
  <Application>Microsoft Office PowerPoint</Application>
  <PresentationFormat>宽屏</PresentationFormat>
  <Paragraphs>152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MiSans</vt:lpstr>
      <vt:lpstr>Arial Black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MES项目交付全景</dc:title>
  <dc:subject>Smart MES项目交付全景</dc:subject>
  <dc:creator>Kimi</dc:creator>
  <cp:lastModifiedBy>R L</cp:lastModifiedBy>
  <cp:revision>2</cp:revision>
  <dcterms:created xsi:type="dcterms:W3CDTF">2025-12-09T08:55:36Z</dcterms:created>
  <dcterms:modified xsi:type="dcterms:W3CDTF">2025-12-09T09:01:19Z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 MES项目交付全景","ContentProducer":"001191110108MACG2KBH8F10000","ProduceID":"d4ru5qspm1t71pck2o60","ReservedCode1":"","ContentPropagator":"001191110108MACG2KBH8F20000","PropagateID":"d4ru5qspm1t71pck2o60","ReservedCode2":""}</vt:lpwstr>
  </property>
</Properties>
</file>